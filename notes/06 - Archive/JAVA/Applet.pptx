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7300900" cy="95869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0">
          <p15:clr>
            <a:srgbClr val="000000"/>
          </p15:clr>
        </p15:guide>
        <p15:guide id="2" pos="230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0" orient="horz"/>
        <p:guide pos="230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00" lIns="95475" spcFirstLastPara="1" rIns="95475" wrap="square" tIns="469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/>
          <p:nvPr>
            <p:ph idx="2" type="sldImg"/>
          </p:nvPr>
        </p:nvSpPr>
        <p:spPr>
          <a:xfrm>
            <a:off x="1263650" y="725487"/>
            <a:ext cx="4775100" cy="358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974725" y="4586287"/>
            <a:ext cx="5351400" cy="4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600" lIns="90800" spcFirstLastPara="1" rIns="90800" wrap="square" tIns="44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7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1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2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/>
          <p:cNvSpPr txBox="1"/>
          <p:nvPr>
            <p:ph idx="1" type="body"/>
          </p:nvPr>
        </p:nvSpPr>
        <p:spPr>
          <a:xfrm>
            <a:off x="973137" y="4554537"/>
            <a:ext cx="5354700" cy="4313100"/>
          </a:xfrm>
          <a:prstGeom prst="rect">
            <a:avLst/>
          </a:prstGeom>
        </p:spPr>
        <p:txBody>
          <a:bodyPr anchorCtr="0" anchor="t" bIns="46900" lIns="95475" spcFirstLastPara="1" rIns="95475" wrap="square" tIns="4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3:notes"/>
          <p:cNvSpPr/>
          <p:nvPr>
            <p:ph idx="2" type="sldImg"/>
          </p:nvPr>
        </p:nvSpPr>
        <p:spPr>
          <a:xfrm>
            <a:off x="1263650" y="725487"/>
            <a:ext cx="4776900" cy="358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838200" y="2057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390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ctrTitle"/>
          </p:nvPr>
        </p:nvSpPr>
        <p:spPr>
          <a:xfrm>
            <a:off x="838200" y="2057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Applets Programming</a:t>
            </a:r>
            <a:endParaRPr/>
          </a:p>
        </p:txBody>
      </p:sp>
      <p:sp>
        <p:nvSpPr>
          <p:cNvPr id="29" name="Google Shape;29;p5"/>
          <p:cNvSpPr txBox="1"/>
          <p:nvPr>
            <p:ph idx="4294967295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Enabling Application Delivery Via the Web</a:t>
            </a:r>
            <a:endParaRPr/>
          </a:p>
        </p:txBody>
      </p:sp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Introduction</a:t>
            </a:r>
            <a:endParaRPr/>
          </a:p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Applets are small Java programs that are embedded in Web pages.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They can be transported over the Internet from one computer (web server) to another (client computers).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They transform web into rich media and support the delivery of applications via the Internet.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Applet: Making Web Interactive and Application Delivery Media </a:t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5568950" y="4654550"/>
            <a:ext cx="749400" cy="368400"/>
          </a:xfrm>
          <a:prstGeom prst="rightArrow">
            <a:avLst>
              <a:gd fmla="val 10799" name="adj1"/>
              <a:gd fmla="val 50000" name="adj2"/>
            </a:avLst>
          </a:prstGeom>
          <a:solidFill>
            <a:srgbClr val="CF0E3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7"/>
          <p:cNvGrpSpPr/>
          <p:nvPr/>
        </p:nvGrpSpPr>
        <p:grpSpPr>
          <a:xfrm>
            <a:off x="4578350" y="4730750"/>
            <a:ext cx="1428750" cy="917575"/>
            <a:chOff x="2884" y="2980"/>
            <a:chExt cx="900" cy="578"/>
          </a:xfrm>
        </p:grpSpPr>
        <p:sp>
          <p:nvSpPr>
            <p:cNvPr id="45" name="Google Shape;45;p7"/>
            <p:cNvSpPr/>
            <p:nvPr/>
          </p:nvSpPr>
          <p:spPr>
            <a:xfrm>
              <a:off x="2941" y="3055"/>
              <a:ext cx="48" cy="42"/>
            </a:xfrm>
            <a:custGeom>
              <a:rect b="b" l="l" r="r" t="t"/>
              <a:pathLst>
                <a:path extrusionOk="0" h="42" w="48">
                  <a:moveTo>
                    <a:pt x="0" y="22"/>
                  </a:moveTo>
                  <a:lnTo>
                    <a:pt x="20" y="0"/>
                  </a:lnTo>
                  <a:lnTo>
                    <a:pt x="47" y="22"/>
                  </a:lnTo>
                  <a:lnTo>
                    <a:pt x="24" y="41"/>
                  </a:lnTo>
                  <a:lnTo>
                    <a:pt x="0" y="22"/>
                  </a:lnTo>
                </a:path>
              </a:pathLst>
            </a:custGeom>
            <a:solidFill>
              <a:srgbClr val="438E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7"/>
            <p:cNvSpPr/>
            <p:nvPr/>
          </p:nvSpPr>
          <p:spPr>
            <a:xfrm>
              <a:off x="3138" y="2995"/>
              <a:ext cx="300" cy="300"/>
            </a:xfrm>
            <a:prstGeom prst="ellipse">
              <a:avLst/>
            </a:prstGeom>
            <a:solidFill>
              <a:srgbClr val="438E00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7"/>
            <p:cNvSpPr/>
            <p:nvPr/>
          </p:nvSpPr>
          <p:spPr>
            <a:xfrm>
              <a:off x="3302" y="2980"/>
              <a:ext cx="300" cy="0"/>
            </a:xfrm>
            <a:prstGeom prst="ellipse">
              <a:avLst/>
            </a:prstGeom>
            <a:solidFill>
              <a:srgbClr val="438E00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7"/>
            <p:cNvSpPr/>
            <p:nvPr/>
          </p:nvSpPr>
          <p:spPr>
            <a:xfrm>
              <a:off x="3448" y="3112"/>
              <a:ext cx="300" cy="300"/>
            </a:xfrm>
            <a:prstGeom prst="ellipse">
              <a:avLst/>
            </a:prstGeom>
            <a:solidFill>
              <a:srgbClr val="438E00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7"/>
            <p:cNvSpPr/>
            <p:nvPr/>
          </p:nvSpPr>
          <p:spPr>
            <a:xfrm>
              <a:off x="2975" y="3199"/>
              <a:ext cx="300" cy="300"/>
            </a:xfrm>
            <a:prstGeom prst="ellipse">
              <a:avLst/>
            </a:prstGeom>
            <a:solidFill>
              <a:srgbClr val="438E00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3375" y="3228"/>
              <a:ext cx="300" cy="300"/>
            </a:xfrm>
            <a:prstGeom prst="ellipse">
              <a:avLst/>
            </a:prstGeom>
            <a:solidFill>
              <a:srgbClr val="438E00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2902" y="3244"/>
              <a:ext cx="300" cy="0"/>
            </a:xfrm>
            <a:prstGeom prst="ellipse">
              <a:avLst/>
            </a:prstGeom>
            <a:solidFill>
              <a:srgbClr val="438E00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2884" y="3141"/>
              <a:ext cx="300" cy="0"/>
            </a:xfrm>
            <a:prstGeom prst="ellipse">
              <a:avLst/>
            </a:prstGeom>
            <a:solidFill>
              <a:srgbClr val="438E00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7"/>
            <p:cNvSpPr/>
            <p:nvPr/>
          </p:nvSpPr>
          <p:spPr>
            <a:xfrm>
              <a:off x="2957" y="3025"/>
              <a:ext cx="300" cy="300"/>
            </a:xfrm>
            <a:prstGeom prst="ellipse">
              <a:avLst/>
            </a:prstGeom>
            <a:solidFill>
              <a:srgbClr val="438E00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7"/>
            <p:cNvSpPr/>
            <p:nvPr/>
          </p:nvSpPr>
          <p:spPr>
            <a:xfrm>
              <a:off x="3175" y="3258"/>
              <a:ext cx="300" cy="300"/>
            </a:xfrm>
            <a:prstGeom prst="ellipse">
              <a:avLst/>
            </a:prstGeom>
            <a:solidFill>
              <a:srgbClr val="438E00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7"/>
            <p:cNvSpPr/>
            <p:nvPr/>
          </p:nvSpPr>
          <p:spPr>
            <a:xfrm>
              <a:off x="3484" y="3038"/>
              <a:ext cx="300" cy="300"/>
            </a:xfrm>
            <a:prstGeom prst="ellipse">
              <a:avLst/>
            </a:prstGeom>
            <a:solidFill>
              <a:srgbClr val="438E00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7"/>
            <p:cNvSpPr/>
            <p:nvPr/>
          </p:nvSpPr>
          <p:spPr>
            <a:xfrm>
              <a:off x="3429" y="2980"/>
              <a:ext cx="300" cy="0"/>
            </a:xfrm>
            <a:prstGeom prst="ellipse">
              <a:avLst/>
            </a:prstGeom>
            <a:solidFill>
              <a:srgbClr val="438E00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2975" y="3038"/>
              <a:ext cx="702" cy="377"/>
            </a:xfrm>
            <a:custGeom>
              <a:rect b="b" l="l" r="r" t="t"/>
              <a:pathLst>
                <a:path extrusionOk="0" h="377" w="702">
                  <a:moveTo>
                    <a:pt x="216" y="38"/>
                  </a:moveTo>
                  <a:lnTo>
                    <a:pt x="246" y="11"/>
                  </a:lnTo>
                  <a:lnTo>
                    <a:pt x="377" y="13"/>
                  </a:lnTo>
                  <a:lnTo>
                    <a:pt x="469" y="0"/>
                  </a:lnTo>
                  <a:lnTo>
                    <a:pt x="586" y="45"/>
                  </a:lnTo>
                  <a:lnTo>
                    <a:pt x="644" y="32"/>
                  </a:lnTo>
                  <a:lnTo>
                    <a:pt x="676" y="38"/>
                  </a:lnTo>
                  <a:lnTo>
                    <a:pt x="683" y="149"/>
                  </a:lnTo>
                  <a:lnTo>
                    <a:pt x="701" y="167"/>
                  </a:lnTo>
                  <a:lnTo>
                    <a:pt x="647" y="254"/>
                  </a:lnTo>
                  <a:lnTo>
                    <a:pt x="588" y="195"/>
                  </a:lnTo>
                  <a:lnTo>
                    <a:pt x="572" y="225"/>
                  </a:lnTo>
                  <a:lnTo>
                    <a:pt x="489" y="344"/>
                  </a:lnTo>
                  <a:lnTo>
                    <a:pt x="211" y="376"/>
                  </a:lnTo>
                  <a:lnTo>
                    <a:pt x="67" y="353"/>
                  </a:lnTo>
                  <a:lnTo>
                    <a:pt x="22" y="279"/>
                  </a:lnTo>
                  <a:lnTo>
                    <a:pt x="22" y="204"/>
                  </a:lnTo>
                  <a:lnTo>
                    <a:pt x="0" y="141"/>
                  </a:lnTo>
                  <a:lnTo>
                    <a:pt x="216" y="38"/>
                  </a:lnTo>
                </a:path>
              </a:pathLst>
            </a:custGeom>
            <a:solidFill>
              <a:srgbClr val="438E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7"/>
          <p:cNvSpPr/>
          <p:nvPr/>
        </p:nvSpPr>
        <p:spPr>
          <a:xfrm>
            <a:off x="2347912" y="150812"/>
            <a:ext cx="4553100" cy="641400"/>
          </a:xfrm>
          <a:prstGeom prst="rect">
            <a:avLst/>
          </a:prstGeom>
          <a:noFill/>
          <a:ln>
            <a:noFill/>
          </a:ln>
          <a:effectLst>
            <a:outerShdw blurRad="63500" dir="2700000" dist="71842">
              <a:schemeClr val="dk2">
                <a:alpha val="498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6125" y="4648200"/>
            <a:ext cx="1587500" cy="1220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8400" y="4419600"/>
            <a:ext cx="609600" cy="1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" y="4310062"/>
            <a:ext cx="2133601" cy="14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/>
          <p:nvPr/>
        </p:nvSpPr>
        <p:spPr>
          <a:xfrm>
            <a:off x="4044950" y="4959350"/>
            <a:ext cx="749400" cy="368400"/>
          </a:xfrm>
          <a:prstGeom prst="rightArrow">
            <a:avLst>
              <a:gd fmla="val 10799" name="adj1"/>
              <a:gd fmla="val 50000" name="adj2"/>
            </a:avLst>
          </a:prstGeom>
          <a:solidFill>
            <a:srgbClr val="CF0E3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1758950" y="4883150"/>
            <a:ext cx="749400" cy="368400"/>
          </a:xfrm>
          <a:prstGeom prst="rightArrow">
            <a:avLst>
              <a:gd fmla="val 10799" name="adj1"/>
              <a:gd fmla="val 50000" name="adj2"/>
            </a:avLst>
          </a:prstGeom>
          <a:solidFill>
            <a:srgbClr val="CF0E3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7"/>
          <p:cNvGrpSpPr/>
          <p:nvPr/>
        </p:nvGrpSpPr>
        <p:grpSpPr>
          <a:xfrm>
            <a:off x="2971800" y="4578350"/>
            <a:ext cx="1677987" cy="1312863"/>
            <a:chOff x="1872" y="2884"/>
            <a:chExt cx="1057" cy="827"/>
          </a:xfrm>
        </p:grpSpPr>
        <p:grpSp>
          <p:nvGrpSpPr>
            <p:cNvPr id="65" name="Google Shape;65;p7"/>
            <p:cNvGrpSpPr/>
            <p:nvPr/>
          </p:nvGrpSpPr>
          <p:grpSpPr>
            <a:xfrm>
              <a:off x="1872" y="3554"/>
              <a:ext cx="1057" cy="157"/>
              <a:chOff x="1872" y="3554"/>
              <a:chExt cx="1057" cy="157"/>
            </a:xfrm>
          </p:grpSpPr>
          <p:grpSp>
            <p:nvGrpSpPr>
              <p:cNvPr id="66" name="Google Shape;66;p7"/>
              <p:cNvGrpSpPr/>
              <p:nvPr/>
            </p:nvGrpSpPr>
            <p:grpSpPr>
              <a:xfrm>
                <a:off x="1872" y="3554"/>
                <a:ext cx="1057" cy="157"/>
                <a:chOff x="1872" y="3554"/>
                <a:chExt cx="1057" cy="157"/>
              </a:xfrm>
            </p:grpSpPr>
            <p:sp>
              <p:nvSpPr>
                <p:cNvPr id="67" name="Google Shape;67;p7"/>
                <p:cNvSpPr/>
                <p:nvPr/>
              </p:nvSpPr>
              <p:spPr>
                <a:xfrm>
                  <a:off x="1876" y="3711"/>
                  <a:ext cx="900" cy="0"/>
                </a:xfrm>
                <a:prstGeom prst="rect">
                  <a:avLst/>
                </a:prstGeom>
                <a:solidFill>
                  <a:srgbClr val="C0C0C0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" name="Google Shape;68;p7"/>
                <p:cNvSpPr/>
                <p:nvPr/>
              </p:nvSpPr>
              <p:spPr>
                <a:xfrm>
                  <a:off x="1872" y="3554"/>
                  <a:ext cx="1057" cy="156"/>
                </a:xfrm>
                <a:custGeom>
                  <a:rect b="b" l="l" r="r" t="t"/>
                  <a:pathLst>
                    <a:path extrusionOk="0" h="156" w="1057">
                      <a:moveTo>
                        <a:pt x="0" y="155"/>
                      </a:moveTo>
                      <a:lnTo>
                        <a:pt x="1056" y="155"/>
                      </a:lnTo>
                      <a:lnTo>
                        <a:pt x="995" y="1"/>
                      </a:lnTo>
                      <a:lnTo>
                        <a:pt x="77" y="0"/>
                      </a:lnTo>
                      <a:lnTo>
                        <a:pt x="0" y="155"/>
                      </a:lnTo>
                    </a:path>
                  </a:pathLst>
                </a:custGeom>
                <a:solidFill>
                  <a:srgbClr val="C0C0C0"/>
                </a:solidFill>
                <a:ln cap="rnd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" name="Google Shape;69;p7"/>
                <p:cNvSpPr/>
                <p:nvPr/>
              </p:nvSpPr>
              <p:spPr>
                <a:xfrm>
                  <a:off x="1903" y="3573"/>
                  <a:ext cx="990" cy="119"/>
                </a:xfrm>
                <a:custGeom>
                  <a:rect b="b" l="l" r="r" t="t"/>
                  <a:pathLst>
                    <a:path extrusionOk="0" h="119" w="990">
                      <a:moveTo>
                        <a:pt x="57" y="0"/>
                      </a:moveTo>
                      <a:lnTo>
                        <a:pt x="0" y="118"/>
                      </a:lnTo>
                      <a:lnTo>
                        <a:pt x="989" y="118"/>
                      </a:lnTo>
                      <a:lnTo>
                        <a:pt x="944" y="0"/>
                      </a:lnTo>
                    </a:path>
                  </a:pathLst>
                </a:custGeom>
                <a:noFill/>
                <a:ln cap="rnd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0" name="Google Shape;70;p7"/>
              <p:cNvGrpSpPr/>
              <p:nvPr/>
            </p:nvGrpSpPr>
            <p:grpSpPr>
              <a:xfrm>
                <a:off x="1989" y="3570"/>
                <a:ext cx="832" cy="36"/>
                <a:chOff x="1989" y="3570"/>
                <a:chExt cx="832" cy="36"/>
              </a:xfrm>
            </p:grpSpPr>
            <p:sp>
              <p:nvSpPr>
                <p:cNvPr id="71" name="Google Shape;71;p7"/>
                <p:cNvSpPr/>
                <p:nvPr/>
              </p:nvSpPr>
              <p:spPr>
                <a:xfrm>
                  <a:off x="1989" y="3570"/>
                  <a:ext cx="34" cy="23"/>
                </a:xfrm>
                <a:custGeom>
                  <a:rect b="b" l="l" r="r" t="t"/>
                  <a:pathLst>
                    <a:path extrusionOk="0" h="23" w="34">
                      <a:moveTo>
                        <a:pt x="9" y="0"/>
                      </a:moveTo>
                      <a:lnTo>
                        <a:pt x="33" y="0"/>
                      </a:lnTo>
                      <a:lnTo>
                        <a:pt x="25" y="22"/>
                      </a:lnTo>
                      <a:lnTo>
                        <a:pt x="0" y="22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808080"/>
                </a:solidFill>
                <a:ln cap="rnd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" name="Google Shape;72;p7"/>
                <p:cNvSpPr/>
                <p:nvPr/>
              </p:nvSpPr>
              <p:spPr>
                <a:xfrm>
                  <a:off x="2069" y="3570"/>
                  <a:ext cx="133" cy="21"/>
                </a:xfrm>
                <a:custGeom>
                  <a:rect b="b" l="l" r="r" t="t"/>
                  <a:pathLst>
                    <a:path extrusionOk="0" h="21" w="133">
                      <a:moveTo>
                        <a:pt x="6" y="0"/>
                      </a:moveTo>
                      <a:lnTo>
                        <a:pt x="132" y="0"/>
                      </a:lnTo>
                      <a:lnTo>
                        <a:pt x="127" y="20"/>
                      </a:lnTo>
                      <a:lnTo>
                        <a:pt x="0" y="20"/>
                      </a:lnTo>
                      <a:lnTo>
                        <a:pt x="6" y="0"/>
                      </a:lnTo>
                    </a:path>
                  </a:pathLst>
                </a:custGeom>
                <a:solidFill>
                  <a:srgbClr val="808080"/>
                </a:solidFill>
                <a:ln cap="rnd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" name="Google Shape;73;p7"/>
                <p:cNvSpPr/>
                <p:nvPr/>
              </p:nvSpPr>
              <p:spPr>
                <a:xfrm>
                  <a:off x="2238" y="3570"/>
                  <a:ext cx="126" cy="23"/>
                </a:xfrm>
                <a:custGeom>
                  <a:rect b="b" l="l" r="r" t="t"/>
                  <a:pathLst>
                    <a:path extrusionOk="0" h="23" w="126">
                      <a:moveTo>
                        <a:pt x="4" y="0"/>
                      </a:moveTo>
                      <a:lnTo>
                        <a:pt x="125" y="0"/>
                      </a:lnTo>
                      <a:lnTo>
                        <a:pt x="124" y="22"/>
                      </a:lnTo>
                      <a:lnTo>
                        <a:pt x="0" y="22"/>
                      </a:lnTo>
                      <a:lnTo>
                        <a:pt x="4" y="0"/>
                      </a:lnTo>
                    </a:path>
                  </a:pathLst>
                </a:custGeom>
                <a:solidFill>
                  <a:srgbClr val="808080"/>
                </a:solidFill>
                <a:ln cap="rnd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" name="Google Shape;74;p7"/>
                <p:cNvSpPr/>
                <p:nvPr/>
              </p:nvSpPr>
              <p:spPr>
                <a:xfrm>
                  <a:off x="2388" y="3570"/>
                  <a:ext cx="127" cy="23"/>
                </a:xfrm>
                <a:custGeom>
                  <a:rect b="b" l="l" r="r" t="t"/>
                  <a:pathLst>
                    <a:path extrusionOk="0" h="23" w="127">
                      <a:moveTo>
                        <a:pt x="1" y="0"/>
                      </a:moveTo>
                      <a:lnTo>
                        <a:pt x="126" y="0"/>
                      </a:lnTo>
                      <a:lnTo>
                        <a:pt x="126" y="22"/>
                      </a:lnTo>
                      <a:lnTo>
                        <a:pt x="0" y="22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808080"/>
                </a:solidFill>
                <a:ln cap="rnd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" name="Google Shape;75;p7"/>
                <p:cNvSpPr/>
                <p:nvPr/>
              </p:nvSpPr>
              <p:spPr>
                <a:xfrm>
                  <a:off x="2542" y="3570"/>
                  <a:ext cx="114" cy="24"/>
                </a:xfrm>
                <a:custGeom>
                  <a:rect b="b" l="l" r="r" t="t"/>
                  <a:pathLst>
                    <a:path extrusionOk="0" h="24" w="114">
                      <a:moveTo>
                        <a:pt x="0" y="0"/>
                      </a:moveTo>
                      <a:lnTo>
                        <a:pt x="110" y="0"/>
                      </a:lnTo>
                      <a:lnTo>
                        <a:pt x="113" y="23"/>
                      </a:lnTo>
                      <a:lnTo>
                        <a:pt x="0" y="2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808080"/>
                </a:solidFill>
                <a:ln cap="rnd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" name="Google Shape;76;p7"/>
                <p:cNvSpPr/>
                <p:nvPr/>
              </p:nvSpPr>
              <p:spPr>
                <a:xfrm>
                  <a:off x="2682" y="3583"/>
                  <a:ext cx="139" cy="23"/>
                </a:xfrm>
                <a:custGeom>
                  <a:rect b="b" l="l" r="r" t="t"/>
                  <a:pathLst>
                    <a:path extrusionOk="0" h="23" w="139">
                      <a:moveTo>
                        <a:pt x="0" y="0"/>
                      </a:moveTo>
                      <a:lnTo>
                        <a:pt x="126" y="0"/>
                      </a:lnTo>
                      <a:lnTo>
                        <a:pt x="138" y="22"/>
                      </a:lnTo>
                      <a:lnTo>
                        <a:pt x="6" y="2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808080"/>
                </a:solidFill>
                <a:ln cap="rnd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7" name="Google Shape;77;p7"/>
              <p:cNvGrpSpPr/>
              <p:nvPr/>
            </p:nvGrpSpPr>
            <p:grpSpPr>
              <a:xfrm>
                <a:off x="1957" y="3610"/>
                <a:ext cx="847" cy="63"/>
                <a:chOff x="1957" y="3610"/>
                <a:chExt cx="847" cy="63"/>
              </a:xfrm>
            </p:grpSpPr>
            <p:grpSp>
              <p:nvGrpSpPr>
                <p:cNvPr id="78" name="Google Shape;78;p7"/>
                <p:cNvGrpSpPr/>
                <p:nvPr/>
              </p:nvGrpSpPr>
              <p:grpSpPr>
                <a:xfrm>
                  <a:off x="2032" y="3614"/>
                  <a:ext cx="322" cy="54"/>
                  <a:chOff x="2032" y="3614"/>
                  <a:chExt cx="322" cy="54"/>
                </a:xfrm>
              </p:grpSpPr>
              <p:cxnSp>
                <p:nvCxnSpPr>
                  <p:cNvPr id="79" name="Google Shape;79;p7"/>
                  <p:cNvCxnSpPr/>
                  <p:nvPr/>
                </p:nvCxnSpPr>
                <p:spPr>
                  <a:xfrm>
                    <a:off x="2032" y="3614"/>
                    <a:ext cx="30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0" name="Google Shape;80;p7"/>
                  <p:cNvCxnSpPr/>
                  <p:nvPr/>
                </p:nvCxnSpPr>
                <p:spPr>
                  <a:xfrm>
                    <a:off x="2049" y="3632"/>
                    <a:ext cx="30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1" name="Google Shape;81;p7"/>
                  <p:cNvCxnSpPr/>
                  <p:nvPr/>
                </p:nvCxnSpPr>
                <p:spPr>
                  <a:xfrm>
                    <a:off x="2054" y="3648"/>
                    <a:ext cx="30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2" name="Google Shape;82;p7"/>
                  <p:cNvCxnSpPr/>
                  <p:nvPr/>
                </p:nvCxnSpPr>
                <p:spPr>
                  <a:xfrm>
                    <a:off x="2063" y="3668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83" name="Google Shape;83;p7"/>
                <p:cNvGrpSpPr/>
                <p:nvPr/>
              </p:nvGrpSpPr>
              <p:grpSpPr>
                <a:xfrm>
                  <a:off x="1957" y="3621"/>
                  <a:ext cx="17" cy="34"/>
                  <a:chOff x="1957" y="3621"/>
                  <a:chExt cx="17" cy="34"/>
                </a:xfrm>
              </p:grpSpPr>
              <p:cxnSp>
                <p:nvCxnSpPr>
                  <p:cNvPr id="84" name="Google Shape;84;p7"/>
                  <p:cNvCxnSpPr/>
                  <p:nvPr/>
                </p:nvCxnSpPr>
                <p:spPr>
                  <a:xfrm>
                    <a:off x="1974" y="3621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5" name="Google Shape;85;p7"/>
                  <p:cNvCxnSpPr/>
                  <p:nvPr/>
                </p:nvCxnSpPr>
                <p:spPr>
                  <a:xfrm>
                    <a:off x="1968" y="3639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6" name="Google Shape;86;p7"/>
                  <p:cNvCxnSpPr/>
                  <p:nvPr/>
                </p:nvCxnSpPr>
                <p:spPr>
                  <a:xfrm>
                    <a:off x="1957" y="3655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87" name="Google Shape;87;p7"/>
                <p:cNvGrpSpPr/>
                <p:nvPr/>
              </p:nvGrpSpPr>
              <p:grpSpPr>
                <a:xfrm>
                  <a:off x="2126" y="3610"/>
                  <a:ext cx="349" cy="59"/>
                  <a:chOff x="2126" y="3610"/>
                  <a:chExt cx="349" cy="59"/>
                </a:xfrm>
              </p:grpSpPr>
              <p:cxnSp>
                <p:nvCxnSpPr>
                  <p:cNvPr id="88" name="Google Shape;88;p7"/>
                  <p:cNvCxnSpPr/>
                  <p:nvPr/>
                </p:nvCxnSpPr>
                <p:spPr>
                  <a:xfrm>
                    <a:off x="2126" y="3668"/>
                    <a:ext cx="30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9" name="Google Shape;89;p7"/>
                  <p:cNvCxnSpPr/>
                  <p:nvPr/>
                </p:nvCxnSpPr>
                <p:spPr>
                  <a:xfrm>
                    <a:off x="2462" y="3610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0" name="Google Shape;90;p7"/>
                  <p:cNvCxnSpPr/>
                  <p:nvPr/>
                </p:nvCxnSpPr>
                <p:spPr>
                  <a:xfrm>
                    <a:off x="2475" y="3632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1" name="Google Shape;91;p7"/>
                  <p:cNvCxnSpPr/>
                  <p:nvPr/>
                </p:nvCxnSpPr>
                <p:spPr>
                  <a:xfrm>
                    <a:off x="2445" y="3650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2" name="Google Shape;92;p7"/>
                  <p:cNvCxnSpPr/>
                  <p:nvPr/>
                </p:nvCxnSpPr>
                <p:spPr>
                  <a:xfrm>
                    <a:off x="2382" y="3668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3" name="Google Shape;93;p7"/>
                  <p:cNvCxnSpPr/>
                  <p:nvPr/>
                </p:nvCxnSpPr>
                <p:spPr>
                  <a:xfrm>
                    <a:off x="2432" y="3669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94" name="Google Shape;94;p7"/>
                <p:cNvGrpSpPr/>
                <p:nvPr/>
              </p:nvGrpSpPr>
              <p:grpSpPr>
                <a:xfrm>
                  <a:off x="2540" y="3621"/>
                  <a:ext cx="18" cy="50"/>
                  <a:chOff x="2540" y="3621"/>
                  <a:chExt cx="18" cy="50"/>
                </a:xfrm>
              </p:grpSpPr>
              <p:cxnSp>
                <p:nvCxnSpPr>
                  <p:cNvPr id="95" name="Google Shape;95;p7"/>
                  <p:cNvCxnSpPr/>
                  <p:nvPr/>
                </p:nvCxnSpPr>
                <p:spPr>
                  <a:xfrm>
                    <a:off x="2540" y="3621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6" name="Google Shape;96;p7"/>
                  <p:cNvCxnSpPr/>
                  <p:nvPr/>
                </p:nvCxnSpPr>
                <p:spPr>
                  <a:xfrm>
                    <a:off x="2557" y="3643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97" name="Google Shape;97;p7"/>
                  <p:cNvCxnSpPr/>
                  <p:nvPr/>
                </p:nvCxnSpPr>
                <p:spPr>
                  <a:xfrm>
                    <a:off x="2558" y="3671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98" name="Google Shape;98;p7"/>
                <p:cNvGrpSpPr/>
                <p:nvPr/>
              </p:nvGrpSpPr>
              <p:grpSpPr>
                <a:xfrm>
                  <a:off x="2685" y="3621"/>
                  <a:ext cx="119" cy="52"/>
                  <a:chOff x="2685" y="3621"/>
                  <a:chExt cx="119" cy="52"/>
                </a:xfrm>
              </p:grpSpPr>
              <p:cxnSp>
                <p:nvCxnSpPr>
                  <p:cNvPr id="99" name="Google Shape;99;p7"/>
                  <p:cNvCxnSpPr/>
                  <p:nvPr/>
                </p:nvCxnSpPr>
                <p:spPr>
                  <a:xfrm>
                    <a:off x="2696" y="3621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00" name="Google Shape;100;p7"/>
                  <p:cNvCxnSpPr/>
                  <p:nvPr/>
                </p:nvCxnSpPr>
                <p:spPr>
                  <a:xfrm>
                    <a:off x="2685" y="3641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01" name="Google Shape;101;p7"/>
                  <p:cNvCxnSpPr/>
                  <p:nvPr/>
                </p:nvCxnSpPr>
                <p:spPr>
                  <a:xfrm>
                    <a:off x="2696" y="3655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02" name="Google Shape;102;p7"/>
                  <p:cNvCxnSpPr/>
                  <p:nvPr/>
                </p:nvCxnSpPr>
                <p:spPr>
                  <a:xfrm>
                    <a:off x="2692" y="3673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03" name="Google Shape;103;p7"/>
                  <p:cNvCxnSpPr/>
                  <p:nvPr/>
                </p:nvCxnSpPr>
                <p:spPr>
                  <a:xfrm>
                    <a:off x="2794" y="3642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04" name="Google Shape;104;p7"/>
                  <p:cNvCxnSpPr/>
                  <p:nvPr/>
                </p:nvCxnSpPr>
                <p:spPr>
                  <a:xfrm>
                    <a:off x="2804" y="3664"/>
                    <a:ext cx="0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grpSp>
          <p:nvGrpSpPr>
            <p:cNvPr id="105" name="Google Shape;105;p7"/>
            <p:cNvGrpSpPr/>
            <p:nvPr/>
          </p:nvGrpSpPr>
          <p:grpSpPr>
            <a:xfrm>
              <a:off x="2164" y="3407"/>
              <a:ext cx="459" cy="81"/>
              <a:chOff x="2164" y="3407"/>
              <a:chExt cx="459" cy="81"/>
            </a:xfrm>
          </p:grpSpPr>
          <p:grpSp>
            <p:nvGrpSpPr>
              <p:cNvPr id="106" name="Google Shape;106;p7"/>
              <p:cNvGrpSpPr/>
              <p:nvPr/>
            </p:nvGrpSpPr>
            <p:grpSpPr>
              <a:xfrm>
                <a:off x="2164" y="3443"/>
                <a:ext cx="459" cy="45"/>
                <a:chOff x="2164" y="3443"/>
                <a:chExt cx="459" cy="45"/>
              </a:xfrm>
            </p:grpSpPr>
            <p:sp>
              <p:nvSpPr>
                <p:cNvPr id="107" name="Google Shape;107;p7"/>
                <p:cNvSpPr/>
                <p:nvPr/>
              </p:nvSpPr>
              <p:spPr>
                <a:xfrm>
                  <a:off x="2164" y="3443"/>
                  <a:ext cx="459" cy="44"/>
                </a:xfrm>
                <a:custGeom>
                  <a:rect b="b" l="l" r="r" t="t"/>
                  <a:pathLst>
                    <a:path extrusionOk="0" h="44" w="459">
                      <a:moveTo>
                        <a:pt x="0" y="43"/>
                      </a:moveTo>
                      <a:lnTo>
                        <a:pt x="458" y="43"/>
                      </a:lnTo>
                      <a:lnTo>
                        <a:pt x="431" y="0"/>
                      </a:lnTo>
                      <a:lnTo>
                        <a:pt x="27" y="0"/>
                      </a:lnTo>
                      <a:lnTo>
                        <a:pt x="0" y="43"/>
                      </a:lnTo>
                    </a:path>
                  </a:pathLst>
                </a:custGeom>
                <a:solidFill>
                  <a:srgbClr val="C0C0C0"/>
                </a:solidFill>
                <a:ln cap="rnd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" name="Google Shape;108;p7"/>
                <p:cNvSpPr/>
                <p:nvPr/>
              </p:nvSpPr>
              <p:spPr>
                <a:xfrm>
                  <a:off x="2166" y="3488"/>
                  <a:ext cx="300" cy="0"/>
                </a:xfrm>
                <a:prstGeom prst="rect">
                  <a:avLst/>
                </a:prstGeom>
                <a:solidFill>
                  <a:srgbClr val="C0C0C0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9" name="Google Shape;109;p7"/>
              <p:cNvSpPr/>
              <p:nvPr/>
            </p:nvSpPr>
            <p:spPr>
              <a:xfrm>
                <a:off x="2269" y="3407"/>
                <a:ext cx="245" cy="79"/>
              </a:xfrm>
              <a:custGeom>
                <a:rect b="b" l="l" r="r" t="t"/>
                <a:pathLst>
                  <a:path extrusionOk="0" h="79" w="245">
                    <a:moveTo>
                      <a:pt x="0" y="44"/>
                    </a:moveTo>
                    <a:lnTo>
                      <a:pt x="0" y="0"/>
                    </a:lnTo>
                    <a:lnTo>
                      <a:pt x="244" y="0"/>
                    </a:lnTo>
                    <a:lnTo>
                      <a:pt x="244" y="45"/>
                    </a:lnTo>
                    <a:lnTo>
                      <a:pt x="243" y="49"/>
                    </a:lnTo>
                    <a:lnTo>
                      <a:pt x="241" y="52"/>
                    </a:lnTo>
                    <a:lnTo>
                      <a:pt x="236" y="56"/>
                    </a:lnTo>
                    <a:lnTo>
                      <a:pt x="230" y="59"/>
                    </a:lnTo>
                    <a:lnTo>
                      <a:pt x="224" y="63"/>
                    </a:lnTo>
                    <a:lnTo>
                      <a:pt x="217" y="65"/>
                    </a:lnTo>
                    <a:lnTo>
                      <a:pt x="209" y="68"/>
                    </a:lnTo>
                    <a:lnTo>
                      <a:pt x="200" y="70"/>
                    </a:lnTo>
                    <a:lnTo>
                      <a:pt x="192" y="71"/>
                    </a:lnTo>
                    <a:lnTo>
                      <a:pt x="179" y="74"/>
                    </a:lnTo>
                    <a:lnTo>
                      <a:pt x="169" y="75"/>
                    </a:lnTo>
                    <a:lnTo>
                      <a:pt x="158" y="77"/>
                    </a:lnTo>
                    <a:lnTo>
                      <a:pt x="146" y="77"/>
                    </a:lnTo>
                    <a:lnTo>
                      <a:pt x="133" y="78"/>
                    </a:lnTo>
                    <a:lnTo>
                      <a:pt x="115" y="78"/>
                    </a:lnTo>
                    <a:lnTo>
                      <a:pt x="100" y="77"/>
                    </a:lnTo>
                    <a:lnTo>
                      <a:pt x="85" y="77"/>
                    </a:lnTo>
                    <a:lnTo>
                      <a:pt x="71" y="75"/>
                    </a:lnTo>
                    <a:lnTo>
                      <a:pt x="60" y="74"/>
                    </a:lnTo>
                    <a:lnTo>
                      <a:pt x="52" y="71"/>
                    </a:lnTo>
                    <a:lnTo>
                      <a:pt x="40" y="69"/>
                    </a:lnTo>
                    <a:lnTo>
                      <a:pt x="31" y="67"/>
                    </a:lnTo>
                    <a:lnTo>
                      <a:pt x="23" y="64"/>
                    </a:lnTo>
                    <a:lnTo>
                      <a:pt x="15" y="60"/>
                    </a:lnTo>
                    <a:lnTo>
                      <a:pt x="10" y="57"/>
                    </a:lnTo>
                    <a:lnTo>
                      <a:pt x="6" y="55"/>
                    </a:lnTo>
                    <a:lnTo>
                      <a:pt x="3" y="51"/>
                    </a:lnTo>
                    <a:lnTo>
                      <a:pt x="1" y="48"/>
                    </a:lnTo>
                    <a:lnTo>
                      <a:pt x="0" y="44"/>
                    </a:lnTo>
                  </a:path>
                </a:pathLst>
              </a:custGeom>
              <a:solidFill>
                <a:srgbClr val="C0C0C0"/>
              </a:solidFill>
              <a:ln cap="rnd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" name="Google Shape;110;p7"/>
            <p:cNvGrpSpPr/>
            <p:nvPr/>
          </p:nvGrpSpPr>
          <p:grpSpPr>
            <a:xfrm>
              <a:off x="2110" y="2884"/>
              <a:ext cx="600" cy="600"/>
              <a:chOff x="2110" y="2884"/>
              <a:chExt cx="600" cy="600"/>
            </a:xfrm>
          </p:grpSpPr>
          <p:grpSp>
            <p:nvGrpSpPr>
              <p:cNvPr id="111" name="Google Shape;111;p7"/>
              <p:cNvGrpSpPr/>
              <p:nvPr/>
            </p:nvGrpSpPr>
            <p:grpSpPr>
              <a:xfrm>
                <a:off x="2110" y="2884"/>
                <a:ext cx="600" cy="600"/>
                <a:chOff x="2110" y="2884"/>
                <a:chExt cx="600" cy="600"/>
              </a:xfrm>
            </p:grpSpPr>
            <p:sp>
              <p:nvSpPr>
                <p:cNvPr id="112" name="Google Shape;112;p7"/>
                <p:cNvSpPr/>
                <p:nvPr/>
              </p:nvSpPr>
              <p:spPr>
                <a:xfrm>
                  <a:off x="2110" y="2884"/>
                  <a:ext cx="600" cy="600"/>
                </a:xfrm>
                <a:prstGeom prst="roundRect">
                  <a:avLst>
                    <a:gd fmla="val 2657" name="adj"/>
                  </a:avLst>
                </a:prstGeom>
                <a:solidFill>
                  <a:srgbClr val="C0C0C0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" name="Google Shape;113;p7"/>
                <p:cNvSpPr/>
                <p:nvPr/>
              </p:nvSpPr>
              <p:spPr>
                <a:xfrm>
                  <a:off x="2174" y="2944"/>
                  <a:ext cx="300" cy="300"/>
                </a:xfrm>
                <a:prstGeom prst="roundRect">
                  <a:avLst>
                    <a:gd fmla="val 2642" name="adj"/>
                  </a:avLst>
                </a:prstGeom>
                <a:solidFill>
                  <a:srgbClr val="808080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" name="Google Shape;114;p7"/>
                <p:cNvSpPr/>
                <p:nvPr/>
              </p:nvSpPr>
              <p:spPr>
                <a:xfrm>
                  <a:off x="2198" y="2967"/>
                  <a:ext cx="300" cy="300"/>
                </a:xfrm>
                <a:prstGeom prst="roundRect">
                  <a:avLst>
                    <a:gd fmla="val 2620" name="adj"/>
                  </a:avLst>
                </a:prstGeom>
                <a:solidFill>
                  <a:srgbClr val="008000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5" name="Google Shape;115;p7"/>
              <p:cNvSpPr/>
              <p:nvPr/>
            </p:nvSpPr>
            <p:spPr>
              <a:xfrm>
                <a:off x="2586" y="3390"/>
                <a:ext cx="0" cy="0"/>
              </a:xfrm>
              <a:prstGeom prst="rect">
                <a:avLst/>
              </a:prstGeom>
              <a:solidFill>
                <a:srgbClr val="008000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6" name="Google Shape;116;p7"/>
          <p:cNvGrpSpPr/>
          <p:nvPr/>
        </p:nvGrpSpPr>
        <p:grpSpPr>
          <a:xfrm>
            <a:off x="6545262" y="4598566"/>
            <a:ext cx="2581297" cy="1428749"/>
            <a:chOff x="4122" y="2897"/>
            <a:chExt cx="1627" cy="900"/>
          </a:xfrm>
        </p:grpSpPr>
        <p:sp>
          <p:nvSpPr>
            <p:cNvPr id="117" name="Google Shape;117;p7"/>
            <p:cNvSpPr/>
            <p:nvPr/>
          </p:nvSpPr>
          <p:spPr>
            <a:xfrm>
              <a:off x="4122" y="3005"/>
              <a:ext cx="1141" cy="646"/>
            </a:xfrm>
            <a:custGeom>
              <a:rect b="b" l="l" r="r" t="t"/>
              <a:pathLst>
                <a:path extrusionOk="0" h="646" w="1141">
                  <a:moveTo>
                    <a:pt x="1140" y="0"/>
                  </a:moveTo>
                  <a:lnTo>
                    <a:pt x="0" y="139"/>
                  </a:lnTo>
                  <a:lnTo>
                    <a:pt x="1082" y="645"/>
                  </a:lnTo>
                  <a:lnTo>
                    <a:pt x="1140" y="0"/>
                  </a:lnTo>
                </a:path>
              </a:pathLst>
            </a:custGeom>
            <a:solidFill>
              <a:srgbClr val="800080"/>
            </a:solidFill>
            <a:ln cap="rnd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7"/>
            <p:cNvSpPr/>
            <p:nvPr/>
          </p:nvSpPr>
          <p:spPr>
            <a:xfrm rot="9206097">
              <a:off x="4964" y="3011"/>
              <a:ext cx="671" cy="671"/>
            </a:xfrm>
            <a:prstGeom prst="ellipse">
              <a:avLst/>
            </a:prstGeom>
            <a:solidFill>
              <a:srgbClr val="FF00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7"/>
          <p:cNvSpPr txBox="1"/>
          <p:nvPr/>
        </p:nvSpPr>
        <p:spPr>
          <a:xfrm>
            <a:off x="7910512" y="4967287"/>
            <a:ext cx="9921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FAFD00"/>
                </a:solidFill>
                <a:effectLst>
                  <a:outerShdw blurRad="38100" algn="tl" dir="2700000" dist="381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Hello</a:t>
            </a:r>
            <a:endParaRPr/>
          </a:p>
        </p:txBody>
      </p:sp>
      <p:sp>
        <p:nvSpPr>
          <p:cNvPr id="120" name="Google Shape;120;p7"/>
          <p:cNvSpPr txBox="1"/>
          <p:nvPr/>
        </p:nvSpPr>
        <p:spPr>
          <a:xfrm>
            <a:off x="747712" y="4618037"/>
            <a:ext cx="873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AFD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 Java</a:t>
            </a: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3414712" y="4770437"/>
            <a:ext cx="76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AFD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&lt;app=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FAFD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“Hello”&gt;</a:t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6157912" y="1804987"/>
            <a:ext cx="298500" cy="366600"/>
          </a:xfrm>
          <a:prstGeom prst="rect">
            <a:avLst/>
          </a:prstGeom>
          <a:solidFill>
            <a:srgbClr val="FAFD00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228600" y="2133600"/>
            <a:ext cx="1986000" cy="1462200"/>
          </a:xfrm>
          <a:prstGeom prst="rect">
            <a:avLst/>
          </a:prstGeom>
          <a:solidFill>
            <a:srgbClr val="66FFFF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APPLET Development “hello.java”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SUN.COM</a:t>
            </a:r>
            <a:endParaRPr/>
          </a:p>
        </p:txBody>
      </p:sp>
      <p:sp>
        <p:nvSpPr>
          <p:cNvPr id="124" name="Google Shape;124;p7"/>
          <p:cNvSpPr txBox="1"/>
          <p:nvPr/>
        </p:nvSpPr>
        <p:spPr>
          <a:xfrm>
            <a:off x="4633912" y="4951412"/>
            <a:ext cx="1282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rgbClr val="FAFD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Internet</a:t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2312987" y="2209800"/>
            <a:ext cx="1578000" cy="1187400"/>
          </a:xfrm>
          <a:prstGeom prst="rect">
            <a:avLst/>
          </a:prstGeom>
          <a:solidFill>
            <a:srgbClr val="66FFFF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hello.class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SUN’S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SERVER</a:t>
            </a:r>
            <a:endParaRPr/>
          </a:p>
        </p:txBody>
      </p:sp>
      <p:sp>
        <p:nvSpPr>
          <p:cNvPr id="126" name="Google Shape;126;p7"/>
          <p:cNvSpPr txBox="1"/>
          <p:nvPr/>
        </p:nvSpPr>
        <p:spPr>
          <a:xfrm>
            <a:off x="2881312" y="1728787"/>
            <a:ext cx="298500" cy="366600"/>
          </a:xfrm>
          <a:prstGeom prst="rect">
            <a:avLst/>
          </a:prstGeom>
          <a:solidFill>
            <a:srgbClr val="FAFD00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4405312" y="1804987"/>
            <a:ext cx="298500" cy="366600"/>
          </a:xfrm>
          <a:prstGeom prst="rect">
            <a:avLst/>
          </a:prstGeom>
          <a:solidFill>
            <a:srgbClr val="FAFD00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1052512" y="1804987"/>
            <a:ext cx="298500" cy="366600"/>
          </a:xfrm>
          <a:prstGeom prst="rect">
            <a:avLst/>
          </a:prstGeom>
          <a:solidFill>
            <a:srgbClr val="FAFD00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29" name="Google Shape;129;p7"/>
          <p:cNvSpPr txBox="1"/>
          <p:nvPr/>
        </p:nvSpPr>
        <p:spPr>
          <a:xfrm>
            <a:off x="7986712" y="1728787"/>
            <a:ext cx="298500" cy="366600"/>
          </a:xfrm>
          <a:prstGeom prst="rect">
            <a:avLst/>
          </a:prstGeom>
          <a:solidFill>
            <a:srgbClr val="FAFD00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4056062" y="2209800"/>
            <a:ext cx="1263600" cy="1462200"/>
          </a:xfrm>
          <a:prstGeom prst="rect">
            <a:avLst/>
          </a:prstGeom>
          <a:solidFill>
            <a:srgbClr val="66FFFF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Applet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 in HTML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</a:t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5359400" y="2109787"/>
            <a:ext cx="2028900" cy="912900"/>
          </a:xfrm>
          <a:prstGeom prst="rect">
            <a:avLst/>
          </a:prstGeom>
          <a:solidFill>
            <a:srgbClr val="66FFFF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Accessing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 Organisation</a:t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7462837" y="2133600"/>
            <a:ext cx="1533600" cy="2286000"/>
          </a:xfrm>
          <a:prstGeom prst="rect">
            <a:avLst/>
          </a:prstGeom>
          <a:solidFill>
            <a:srgbClr val="66FFFF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browser creates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new window and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new thread and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runs the code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114800" y="3657600"/>
            <a:ext cx="382587" cy="1068388"/>
          </a:xfrm>
          <a:custGeom>
            <a:rect b="b" l="l" r="r" t="t"/>
            <a:pathLst>
              <a:path extrusionOk="0" h="673" w="241">
                <a:moveTo>
                  <a:pt x="0" y="405"/>
                </a:moveTo>
                <a:lnTo>
                  <a:pt x="44" y="449"/>
                </a:lnTo>
                <a:lnTo>
                  <a:pt x="143" y="216"/>
                </a:lnTo>
                <a:lnTo>
                  <a:pt x="148" y="201"/>
                </a:lnTo>
                <a:lnTo>
                  <a:pt x="152" y="189"/>
                </a:lnTo>
                <a:lnTo>
                  <a:pt x="153" y="176"/>
                </a:lnTo>
                <a:lnTo>
                  <a:pt x="155" y="162"/>
                </a:lnTo>
                <a:lnTo>
                  <a:pt x="156" y="146"/>
                </a:lnTo>
                <a:lnTo>
                  <a:pt x="155" y="132"/>
                </a:lnTo>
                <a:lnTo>
                  <a:pt x="154" y="117"/>
                </a:lnTo>
                <a:lnTo>
                  <a:pt x="152" y="104"/>
                </a:lnTo>
                <a:lnTo>
                  <a:pt x="149" y="92"/>
                </a:lnTo>
                <a:lnTo>
                  <a:pt x="146" y="80"/>
                </a:lnTo>
                <a:lnTo>
                  <a:pt x="143" y="68"/>
                </a:lnTo>
                <a:lnTo>
                  <a:pt x="139" y="56"/>
                </a:lnTo>
                <a:lnTo>
                  <a:pt x="134" y="45"/>
                </a:lnTo>
                <a:lnTo>
                  <a:pt x="130" y="34"/>
                </a:lnTo>
                <a:lnTo>
                  <a:pt x="125" y="22"/>
                </a:lnTo>
                <a:lnTo>
                  <a:pt x="121" y="14"/>
                </a:lnTo>
                <a:lnTo>
                  <a:pt x="113" y="0"/>
                </a:lnTo>
                <a:lnTo>
                  <a:pt x="122" y="5"/>
                </a:lnTo>
                <a:lnTo>
                  <a:pt x="130" y="9"/>
                </a:lnTo>
                <a:lnTo>
                  <a:pt x="139" y="15"/>
                </a:lnTo>
                <a:lnTo>
                  <a:pt x="147" y="22"/>
                </a:lnTo>
                <a:lnTo>
                  <a:pt x="155" y="30"/>
                </a:lnTo>
                <a:lnTo>
                  <a:pt x="164" y="39"/>
                </a:lnTo>
                <a:lnTo>
                  <a:pt x="174" y="51"/>
                </a:lnTo>
                <a:lnTo>
                  <a:pt x="183" y="63"/>
                </a:lnTo>
                <a:lnTo>
                  <a:pt x="192" y="74"/>
                </a:lnTo>
                <a:lnTo>
                  <a:pt x="200" y="89"/>
                </a:lnTo>
                <a:lnTo>
                  <a:pt x="208" y="102"/>
                </a:lnTo>
                <a:lnTo>
                  <a:pt x="214" y="118"/>
                </a:lnTo>
                <a:lnTo>
                  <a:pt x="221" y="136"/>
                </a:lnTo>
                <a:lnTo>
                  <a:pt x="225" y="152"/>
                </a:lnTo>
                <a:lnTo>
                  <a:pt x="230" y="171"/>
                </a:lnTo>
                <a:lnTo>
                  <a:pt x="235" y="193"/>
                </a:lnTo>
                <a:lnTo>
                  <a:pt x="238" y="209"/>
                </a:lnTo>
                <a:lnTo>
                  <a:pt x="240" y="231"/>
                </a:lnTo>
                <a:lnTo>
                  <a:pt x="240" y="251"/>
                </a:lnTo>
                <a:lnTo>
                  <a:pt x="239" y="267"/>
                </a:lnTo>
                <a:lnTo>
                  <a:pt x="234" y="289"/>
                </a:lnTo>
                <a:lnTo>
                  <a:pt x="228" y="306"/>
                </a:lnTo>
                <a:lnTo>
                  <a:pt x="221" y="321"/>
                </a:lnTo>
                <a:lnTo>
                  <a:pt x="131" y="536"/>
                </a:lnTo>
                <a:lnTo>
                  <a:pt x="177" y="583"/>
                </a:lnTo>
                <a:lnTo>
                  <a:pt x="15" y="672"/>
                </a:lnTo>
                <a:lnTo>
                  <a:pt x="0" y="405"/>
                </a:lnTo>
              </a:path>
            </a:pathLst>
          </a:custGeom>
          <a:solidFill>
            <a:srgbClr val="FF0000"/>
          </a:solidFill>
          <a:ln cap="rnd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9" name="Google Shape;139;p8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How Applets Differ from Applications</a:t>
            </a:r>
            <a:endParaRPr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Although both the Applets and stand-alone applications are Java programs, there are certain restrictions are imposed on Applets due to security concerns: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Applets don’t use the main() method, but when they are load, automatically call certain methods (init, start, paint, stop, destroy).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They are embedded inside a web page and executed in browsers.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They cannot read from or write to the files on local computer.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They cannot communicate with other servers on the network.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They cannot run any programs from the local computer.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They are restricted from using libraries from other languages.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The above restrictions ensures that an Applet cannot do any damage to the local system.</a:t>
            </a:r>
            <a:endParaRPr/>
          </a:p>
          <a:p>
            <a:pPr indent="-2514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6" name="Google Shape;146;p9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Building Applet Code: An Example</a:t>
            </a:r>
            <a:endParaRPr/>
          </a:p>
        </p:txBody>
      </p:sp>
      <p:sp>
        <p:nvSpPr>
          <p:cNvPr id="147" name="Google Shape;147;p9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</a:pP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//HelloWorldApplet.java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</a:pPr>
            <a:r>
              <a:rPr b="0" i="0" lang="en-US" sz="2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import java.applet.Applet;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</a:pP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import java.awt.*;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</a:pPr>
            <a:r>
              <a:rPr b="0" i="0" lang="en-US" sz="2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public class HelloWorldApplet extends Applet</a:t>
            </a: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</a:pP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       public void paint(Graphics g) 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</a:pP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               g.drawString ("Hello World of Java!",25, 25);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</a:pP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       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</a:pP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/>
          </a:p>
          <a:p>
            <a:pPr indent="-2514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3" name="Google Shape;153;p10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Embedding Applet in Web Page</a:t>
            </a:r>
            <a:endParaRPr/>
          </a:p>
        </p:txBody>
      </p:sp>
      <p:sp>
        <p:nvSpPr>
          <p:cNvPr id="154" name="Google Shape;154;p10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&lt;HTML&gt;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&lt;HEAD&gt;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&lt;TITLE&gt;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  Hello World Applet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&lt;/TITLE&gt;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&lt;/HEAD&gt;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&lt;body&gt;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&lt;h1&gt;Hi, This is My First Java Applet on the Web!&lt;/h1&gt;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&lt;APPLET CODE="HelloWorldApplet.class" width=500 height=400&gt;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&lt;/APPLET&gt;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&lt;/body&gt;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&lt;/HTML&gt;</a:t>
            </a:r>
            <a:endParaRPr/>
          </a:p>
          <a:p>
            <a:pPr indent="-27432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0" name="Google Shape;160;p11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Accessing Web page (runs Applet) </a:t>
            </a:r>
            <a:endParaRPr/>
          </a:p>
        </p:txBody>
      </p:sp>
      <p:pic>
        <p:nvPicPr>
          <p:cNvPr id="161" name="Google Shape;161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1524000"/>
            <a:ext cx="4694100" cy="445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7" name="Google Shape;167;p12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Applet Life Cycle</a:t>
            </a:r>
            <a:endParaRPr/>
          </a:p>
        </p:txBody>
      </p:sp>
      <p:sp>
        <p:nvSpPr>
          <p:cNvPr id="168" name="Google Shape;168;p12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Every applet inherits a set of default behaviours from the Applet class. As a result, when an applet is loaded, it undergoes a series of changes in its state. The applet states include: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Initialisation – invokes init()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Running – invokes start()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Display – invokes paint()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Idle – invokes stop()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Dead/Destroyed State – invokes destroy()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4" name="Google Shape;174;p13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Applet States</a:t>
            </a:r>
            <a:endParaRPr/>
          </a:p>
        </p:txBody>
      </p:sp>
      <p:sp>
        <p:nvSpPr>
          <p:cNvPr id="175" name="Google Shape;175;p13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Initialisation – invokes init() – only once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Invoked when applet is first loaded.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Running – invokes start() – more than once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the first time, it is called automatically by the system after init() method execution.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is also invoked when applet moves from idle/stop() state to active state. For example, when we return back to the Web page after temporary visiting other pages.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Display – invokes paint() - more than once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happens immediately after the applet enters into the running state. It is responsible for displaying output.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Idle – invokes stop() - more than once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is invoked when the applet is stopped from running. For example, it occurs when we leave a web page.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Dead/Destroyed State – invokes destroy() - only once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occurs automatically by invoking destroy() method when we quite the browser.</a:t>
            </a:r>
            <a:endParaRPr/>
          </a:p>
          <a:p>
            <a:pPr indent="-27432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1" name="Google Shape;181;p14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Applet Life Cycle Diagram</a:t>
            </a:r>
            <a:endParaRPr/>
          </a:p>
        </p:txBody>
      </p:sp>
      <p:sp>
        <p:nvSpPr>
          <p:cNvPr id="182" name="Google Shape;182;p14"/>
          <p:cNvSpPr/>
          <p:nvPr/>
        </p:nvSpPr>
        <p:spPr>
          <a:xfrm>
            <a:off x="3108325" y="1752600"/>
            <a:ext cx="914400" cy="91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Born</a:t>
            </a:r>
            <a:endParaRPr/>
          </a:p>
        </p:txBody>
      </p:sp>
      <p:sp>
        <p:nvSpPr>
          <p:cNvPr id="183" name="Google Shape;183;p14"/>
          <p:cNvSpPr/>
          <p:nvPr/>
        </p:nvSpPr>
        <p:spPr>
          <a:xfrm>
            <a:off x="3108325" y="3200400"/>
            <a:ext cx="914400" cy="91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Running</a:t>
            </a:r>
            <a:endParaRPr/>
          </a:p>
        </p:txBody>
      </p:sp>
      <p:sp>
        <p:nvSpPr>
          <p:cNvPr id="184" name="Google Shape;184;p14"/>
          <p:cNvSpPr/>
          <p:nvPr/>
        </p:nvSpPr>
        <p:spPr>
          <a:xfrm>
            <a:off x="6080125" y="3200400"/>
            <a:ext cx="914400" cy="91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Idle</a:t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6080125" y="4876800"/>
            <a:ext cx="914400" cy="91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Dead</a:t>
            </a:r>
            <a:endParaRPr/>
          </a:p>
        </p:txBody>
      </p:sp>
      <p:cxnSp>
        <p:nvCxnSpPr>
          <p:cNvPr id="186" name="Google Shape;186;p14"/>
          <p:cNvCxnSpPr/>
          <p:nvPr/>
        </p:nvCxnSpPr>
        <p:spPr>
          <a:xfrm>
            <a:off x="2346325" y="2133600"/>
            <a:ext cx="685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87" name="Google Shape;187;p14"/>
          <p:cNvCxnSpPr/>
          <p:nvPr/>
        </p:nvCxnSpPr>
        <p:spPr>
          <a:xfrm>
            <a:off x="3489325" y="274320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88" name="Google Shape;188;p14"/>
          <p:cNvSpPr/>
          <p:nvPr/>
        </p:nvSpPr>
        <p:spPr>
          <a:xfrm>
            <a:off x="3870325" y="2959100"/>
            <a:ext cx="2209800" cy="393700"/>
          </a:xfrm>
          <a:custGeom>
            <a:rect b="b" l="l" r="r" t="t"/>
            <a:pathLst>
              <a:path extrusionOk="0" h="248" w="1392">
                <a:moveTo>
                  <a:pt x="0" y="200"/>
                </a:moveTo>
                <a:cubicBezTo>
                  <a:pt x="148" y="100"/>
                  <a:pt x="296" y="0"/>
                  <a:pt x="528" y="8"/>
                </a:cubicBezTo>
                <a:cubicBezTo>
                  <a:pt x="760" y="16"/>
                  <a:pt x="1248" y="200"/>
                  <a:pt x="1392" y="2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4"/>
          <p:cNvSpPr/>
          <p:nvPr/>
        </p:nvSpPr>
        <p:spPr>
          <a:xfrm flipH="1" rot="10800000">
            <a:off x="3870325" y="3962400"/>
            <a:ext cx="2209800" cy="457200"/>
          </a:xfrm>
          <a:custGeom>
            <a:rect b="b" l="l" r="r" t="t"/>
            <a:pathLst>
              <a:path extrusionOk="0" h="248" w="1392">
                <a:moveTo>
                  <a:pt x="0" y="200"/>
                </a:moveTo>
                <a:cubicBezTo>
                  <a:pt x="148" y="100"/>
                  <a:pt x="296" y="0"/>
                  <a:pt x="528" y="8"/>
                </a:cubicBezTo>
                <a:cubicBezTo>
                  <a:pt x="760" y="16"/>
                  <a:pt x="1248" y="200"/>
                  <a:pt x="1392" y="2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2219325" y="3327400"/>
            <a:ext cx="965200" cy="1028700"/>
          </a:xfrm>
          <a:custGeom>
            <a:rect b="b" l="l" r="r" t="t"/>
            <a:pathLst>
              <a:path extrusionOk="0" h="648" w="608">
                <a:moveTo>
                  <a:pt x="608" y="400"/>
                </a:moveTo>
                <a:cubicBezTo>
                  <a:pt x="560" y="516"/>
                  <a:pt x="512" y="632"/>
                  <a:pt x="416" y="640"/>
                </a:cubicBezTo>
                <a:cubicBezTo>
                  <a:pt x="320" y="648"/>
                  <a:pt x="64" y="544"/>
                  <a:pt x="32" y="448"/>
                </a:cubicBezTo>
                <a:cubicBezTo>
                  <a:pt x="0" y="352"/>
                  <a:pt x="136" y="128"/>
                  <a:pt x="224" y="64"/>
                </a:cubicBezTo>
                <a:cubicBezTo>
                  <a:pt x="312" y="0"/>
                  <a:pt x="504" y="64"/>
                  <a:pt x="560" y="6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14"/>
          <p:cNvCxnSpPr/>
          <p:nvPr/>
        </p:nvCxnSpPr>
        <p:spPr>
          <a:xfrm>
            <a:off x="6537325" y="41910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92" name="Google Shape;192;p14"/>
          <p:cNvSpPr txBox="1"/>
          <p:nvPr/>
        </p:nvSpPr>
        <p:spPr>
          <a:xfrm>
            <a:off x="1447800" y="1919287"/>
            <a:ext cx="7461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Begin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2244725" y="1708150"/>
            <a:ext cx="666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init()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2443162" y="2667000"/>
            <a:ext cx="816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start()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2651125" y="4433887"/>
            <a:ext cx="861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paint()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4668837" y="2438400"/>
            <a:ext cx="787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stop()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4327525" y="4495800"/>
            <a:ext cx="816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start()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6651625" y="4267200"/>
            <a:ext cx="1104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destroy()</a:t>
            </a:r>
            <a:endParaRPr/>
          </a:p>
        </p:txBody>
      </p:sp>
      <p:cxnSp>
        <p:nvCxnSpPr>
          <p:cNvPr id="199" name="Google Shape;199;p14"/>
          <p:cNvCxnSpPr/>
          <p:nvPr/>
        </p:nvCxnSpPr>
        <p:spPr>
          <a:xfrm>
            <a:off x="7070725" y="5334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00" name="Google Shape;200;p14"/>
          <p:cNvSpPr txBox="1"/>
          <p:nvPr/>
        </p:nvSpPr>
        <p:spPr>
          <a:xfrm>
            <a:off x="7550150" y="5195887"/>
            <a:ext cx="5667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6" name="Google Shape;206;p15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Passing Parameters to Applet</a:t>
            </a:r>
            <a:endParaRPr/>
          </a:p>
        </p:txBody>
      </p:sp>
      <p:sp>
        <p:nvSpPr>
          <p:cNvPr id="207" name="Google Shape;207;p15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&lt;HTML&gt;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t/>
            </a:r>
            <a:endParaRPr b="0" i="0" sz="16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&lt;HEAD&gt;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&lt;TITLE&gt;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  Hello World Applet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&lt;/TITLE&gt;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&lt;/HEAD&gt;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t/>
            </a:r>
            <a:endParaRPr b="0" i="0" sz="16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&lt;body&gt;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&lt;h1&gt;Hi, This is My First Communicating Applet on the Web!&lt;/h1&gt;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&lt;APPLET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   CODE="HelloAppletMsg.class" width=500 height=400&gt;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   &lt;PARAM NAME="Greetings" VALUE="Hello Friend, How are you?"&gt;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&lt;/APPLET&gt;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t/>
            </a:r>
            <a:endParaRPr b="0" i="0" sz="16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&lt;/body&gt;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t/>
            </a:r>
            <a:endParaRPr b="0" i="0" sz="16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&lt;/HTML&gt;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3" name="Google Shape;213;p16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Applet Program Accepting Parameters</a:t>
            </a:r>
            <a:endParaRPr/>
          </a:p>
        </p:txBody>
      </p:sp>
      <p:sp>
        <p:nvSpPr>
          <p:cNvPr id="214" name="Google Shape;214;p16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//HelloAppletMsg.java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import java.applet.Applet;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import java.awt.*;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t/>
            </a:r>
            <a:endParaRPr b="0" i="0" sz="16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public class HelloAppletMsg extends Applet 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t/>
            </a:r>
            <a:endParaRPr b="0" i="0" sz="16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String msg;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t/>
            </a:r>
            <a:endParaRPr b="0" i="0" sz="16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public void init()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msg = getParameter("Greetings");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if( msg == null)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	msg = "Hello";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public void paint(Graphics g) 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 		g.drawString (msg,10, 100);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/>
          </a:p>
        </p:txBody>
      </p:sp>
      <p:cxnSp>
        <p:nvCxnSpPr>
          <p:cNvPr id="215" name="Google Shape;215;p16"/>
          <p:cNvCxnSpPr/>
          <p:nvPr/>
        </p:nvCxnSpPr>
        <p:spPr>
          <a:xfrm rot="10800000">
            <a:off x="4572000" y="4495800"/>
            <a:ext cx="12192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16" name="Google Shape;216;p16"/>
          <p:cNvSpPr txBox="1"/>
          <p:nvPr/>
        </p:nvSpPr>
        <p:spPr>
          <a:xfrm>
            <a:off x="3763962" y="5759450"/>
            <a:ext cx="5303700" cy="641400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is name of parameter specified in PARAM tag;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method returns the value of paramter.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2" name="Google Shape;222;p17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HelloAppletMsg.html</a:t>
            </a:r>
            <a:endParaRPr/>
          </a:p>
        </p:txBody>
      </p:sp>
      <p:pic>
        <p:nvPicPr>
          <p:cNvPr id="223" name="Google Shape;223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524000"/>
            <a:ext cx="5548200" cy="445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9" name="Google Shape;229;p18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What happen if we don’t pass parameter? See HelloAppletMsg1.html</a:t>
            </a:r>
            <a:endParaRPr/>
          </a:p>
        </p:txBody>
      </p:sp>
      <p:sp>
        <p:nvSpPr>
          <p:cNvPr id="230" name="Google Shape;230;p18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&lt;HTML&gt;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t/>
            </a:r>
            <a:endParaRPr b="0" i="0" sz="16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&lt;HEAD&gt;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&lt;TITLE&gt;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  Hello World Applet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&lt;/TITLE&gt;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&lt;/HEAD&gt;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t/>
            </a:r>
            <a:endParaRPr b="0" i="0" sz="16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&lt;body&gt;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&lt;h1&gt;Hi, This is My First Communicating Applet on the Web!&lt;/h1&gt;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&lt;APPLET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   CODE="HelloAppletMsg.class" width=500 height=400&gt;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&lt;/APPLET&gt;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t/>
            </a:r>
            <a:endParaRPr b="0" i="0" sz="16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&lt;/body&gt;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t/>
            </a:r>
            <a:endParaRPr b="0" i="0" sz="16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None/>
            </a:pPr>
            <a:r>
              <a:rPr b="0" i="0" lang="en-US" sz="16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&lt;/HTML&gt;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6" name="Google Shape;236;p19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getParameter() returns null. Some default value may be used. </a:t>
            </a:r>
            <a:endParaRPr/>
          </a:p>
        </p:txBody>
      </p:sp>
      <p:pic>
        <p:nvPicPr>
          <p:cNvPr id="237" name="Google Shape;237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1850" y="1676400"/>
            <a:ext cx="5548200" cy="445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3" name="Google Shape;243;p20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Displaying Numeric Values</a:t>
            </a:r>
            <a:endParaRPr/>
          </a:p>
        </p:txBody>
      </p:sp>
      <p:sp>
        <p:nvSpPr>
          <p:cNvPr id="244" name="Google Shape;244;p20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//SumNums.java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import java.applet.Applet;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import java.awt.*;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public class SumNums extends Applet 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public void paint(Graphics g) 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int num1 = 10;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int num2 = 20;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int sum = num1 + num2;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String str = "Sum: "+String.valueOf(sum);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 		g.drawString (str,100, 125);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/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0" name="Google Shape;250;p21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SunNums.html</a:t>
            </a:r>
            <a:endParaRPr/>
          </a:p>
        </p:txBody>
      </p:sp>
      <p:sp>
        <p:nvSpPr>
          <p:cNvPr id="251" name="Google Shape;251;p21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&lt;HTML&gt;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&lt;HEAD&gt;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&lt;TITLE&gt;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  Hello World Applet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&lt;/TITLE&gt;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&lt;/HEAD&gt;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&lt;body&gt;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&lt;h1&gt;Sum of Numbers&lt;/h1&gt;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&lt;APPLET CODE="SumNums.class" width=500 height=400&gt;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&lt;/APPLET&gt;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&lt;/body&gt;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&lt;/HTML&gt;</a:t>
            </a:r>
            <a:endParaRPr/>
          </a:p>
          <a:p>
            <a:pPr indent="-27432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7" name="Google Shape;257;p22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Applet – Sum Numbers</a:t>
            </a:r>
            <a:endParaRPr/>
          </a:p>
        </p:txBody>
      </p:sp>
      <p:pic>
        <p:nvPicPr>
          <p:cNvPr id="258" name="Google Shape;258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335087"/>
            <a:ext cx="5548200" cy="49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4" name="Google Shape;264;p23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Interactive Applets</a:t>
            </a:r>
            <a:endParaRPr/>
          </a:p>
        </p:txBody>
      </p:sp>
      <p:sp>
        <p:nvSpPr>
          <p:cNvPr id="265" name="Google Shape;265;p23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Applets work in a graphical environment. Therefore, applets treats inputs as text strings.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We need to create an area on the screen in which use can type and edit input items.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We can do this using TextField class of the applet package.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When data is entered, an event is generated. This can be used to refresh the applet output based on input values.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1" name="Google Shape;271;p24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Interactive Applet Program..(cont)</a:t>
            </a:r>
            <a:endParaRPr/>
          </a:p>
        </p:txBody>
      </p:sp>
      <p:sp>
        <p:nvSpPr>
          <p:cNvPr id="272" name="Google Shape;272;p24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//SumNumsInteractive..java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import java.applet.Applet;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import java.awt.*;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t/>
            </a:r>
            <a:endParaRPr b="0" i="0" sz="10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public class SumNumsInteractive extends Applet 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TextField text1, text2;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public void init()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		text1 = new TextField(10);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		text2 = new TextField(10);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		text1.setText("0");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		text2.setText("0");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		add(text1);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		add(text2);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public void paint(Graphics g) 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int num1 = 0;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int num2 = 0;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int sum;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String s1, s2, s3;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t/>
            </a:r>
            <a:endParaRPr b="0" i="0" sz="10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g.drawString("Input a number in each box ", 10, 50);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try 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	</a:t>
            </a:r>
            <a:r>
              <a:rPr b="0" i="0" lang="en-US" sz="1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s1 = text1.getText();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			num1 = Integer.parseInt(s1);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	s2 = text2.getText();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	num2 = Integer.parseInt(s2);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catch(Exception e1)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rPr b="0" i="0" lang="en-US" sz="1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{}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8" name="Google Shape;278;p25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Interactive Applet Program.</a:t>
            </a:r>
            <a:endParaRPr/>
          </a:p>
        </p:txBody>
      </p:sp>
      <p:sp>
        <p:nvSpPr>
          <p:cNvPr id="279" name="Google Shape;279;p25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sum = num1 + num2;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	String str = "THE SUM IS: "+String.valueOf(sum);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 		g.drawString (str,100, 125);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}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0" i="0" lang="en-US" sz="2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public boolean action(Event ev, Object obj)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	{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		repaint();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		return true;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	}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b="0" i="0" lang="en-US" sz="20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/>
          </a:p>
          <a:p>
            <a:pPr indent="-2667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5" name="Google Shape;285;p26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Interactive Applet Execution</a:t>
            </a:r>
            <a:endParaRPr/>
          </a:p>
        </p:txBody>
      </p:sp>
      <p:pic>
        <p:nvPicPr>
          <p:cNvPr id="286" name="Google Shape;286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1371600"/>
            <a:ext cx="436410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"/>
          <p:cNvSpPr txBox="1"/>
          <p:nvPr>
            <p:ph idx="12" type="sldNum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2" name="Google Shape;292;p27"/>
          <p:cNvSpPr txBox="1"/>
          <p:nvPr>
            <p:ph type="title"/>
          </p:nvPr>
        </p:nvSpPr>
        <p:spPr>
          <a:xfrm>
            <a:off x="152400" y="152400"/>
            <a:ext cx="8793300" cy="9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293" name="Google Shape;293;p27"/>
          <p:cNvSpPr txBox="1"/>
          <p:nvPr>
            <p:ph idx="1" type="body"/>
          </p:nvPr>
        </p:nvSpPr>
        <p:spPr>
          <a:xfrm>
            <a:off x="838200" y="1676400"/>
            <a:ext cx="80772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Applets are designed to operate in Internet and Web environment. They enable the delivery of applications via the Web.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This is demonstrate by things that we learned in this lecture such as: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do applets differ from applications?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Life cycles of applets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to design applets?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to execute applets?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to provide interactive inputs?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ends">
  <a:themeElements>
    <a:clrScheme name="default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E4A8"/>
      </a:accent4>
      <a:accent5>
        <a:srgbClr val="FFCF01"/>
      </a:accent5>
      <a:accent6>
        <a:srgbClr val="FFFFFF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